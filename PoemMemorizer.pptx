
<file path=[Content_Types].xml><?xml version="1.0" encoding="utf-8"?>
<Types xmlns="http://schemas.openxmlformats.org/package/2006/content-types">
  <Default Extension="jpg" ContentType="image/jpeg"/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6E941F-7740-6537-3A73-4B4D4EE3C5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8FE0D-9673-288A-C4E1-FD84B99DDB2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C9FD2-422D-1558-DFB1-E8A6B75D3F5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C6A538-DE20-86B7-201D-4DA83E54F2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3699E3-D07B-6736-C4D0-AC1386EB99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FBF9C8-B872-EB0F-3055-89B0BF338B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4E94B25-F1E1-E67C-6E74-17A4FE8F42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F3B971-ECBD-BAEE-A9EF-9B4784C8039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80B1C-A683-3429-D6F7-D5E877C678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2A092D-C528-7075-F36E-08A5D4A5A9E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433634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1877013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53772371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65812479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02910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3601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8475294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3555097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058146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701514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5270331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7661758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0654150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2234253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7674065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1918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9130219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9961735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205216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8275458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213361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77203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0528835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9797064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175188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807977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84493494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9395634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51938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1078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4025855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97064449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97695572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4377982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4915109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4658905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08523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2427547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3721503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2690863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1520590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3440806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939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0364438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97074918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893064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590810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2201921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31489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627171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729291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1051148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7134353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949069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890093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27993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6150430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4186669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456722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242749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1589830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2265440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8124110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jp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9915488" name="Picture 1" descr="image2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49526368" name="TextBox 2"/>
          <p:cNvSpPr txBox="1"/>
          <p:nvPr/>
        </p:nvSpPr>
        <p:spPr bwMode="auto">
          <a:xfrm>
            <a:off x="1051560" y="1508759"/>
            <a:ext cx="7315200" cy="5486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3400">
                <a:solidFill>
                  <a:srgbClr val="FFFFFF"/>
                </a:solidFill>
                <a:latin typeface="Calibri"/>
              </a:defRPr>
            </a:pPr>
            <a:r>
              <a:rPr/>
              <a:t>Индивидуальный проект</a:t>
            </a:r>
            <a:endParaRPr/>
          </a:p>
        </p:txBody>
      </p:sp>
      <p:sp>
        <p:nvSpPr>
          <p:cNvPr id="441159901" name="TextBox 3"/>
          <p:cNvSpPr txBox="1"/>
          <p:nvPr/>
        </p:nvSpPr>
        <p:spPr bwMode="auto">
          <a:xfrm>
            <a:off x="1051560" y="2084831"/>
            <a:ext cx="7589520" cy="5943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3600">
                <a:solidFill>
                  <a:srgbClr val="FFFF00"/>
                </a:solidFill>
                <a:latin typeface="Calibri"/>
              </a:defRPr>
            </a:pPr>
            <a:r>
              <a:rPr/>
              <a:t>Poem Memorizer</a:t>
            </a:r>
            <a:endParaRPr/>
          </a:p>
        </p:txBody>
      </p:sp>
      <p:sp>
        <p:nvSpPr>
          <p:cNvPr id="766036468" name="TextBox 4"/>
          <p:cNvSpPr txBox="1"/>
          <p:nvPr/>
        </p:nvSpPr>
        <p:spPr bwMode="auto">
          <a:xfrm>
            <a:off x="1060704" y="278892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alibri"/>
              </a:defRPr>
            </a:pPr>
            <a:r>
              <a:rPr/>
              <a:t>Android-приложение для заучивания стихотворений</a:t>
            </a:r>
            <a:endParaRPr/>
          </a:p>
        </p:txBody>
      </p:sp>
      <p:sp>
        <p:nvSpPr>
          <p:cNvPr id="619891569" name="TextBox 5"/>
          <p:cNvSpPr txBox="1"/>
          <p:nvPr/>
        </p:nvSpPr>
        <p:spPr bwMode="auto">
          <a:xfrm>
            <a:off x="1828800" y="3273552"/>
            <a:ext cx="10972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>
                <a:solidFill>
                  <a:srgbClr val="FFFFFF"/>
                </a:solidFill>
              </a:defRPr>
            </a:pPr>
            <a:r>
              <a:rPr/>
              <a:t>Город:</a:t>
            </a:r>
            <a:endParaRPr/>
          </a:p>
          <a:p>
            <a:pPr algn="r">
              <a:defRPr sz="1300">
                <a:solidFill>
                  <a:srgbClr val="FFFFFF"/>
                </a:solidFill>
              </a:defRPr>
            </a:pPr>
            <a:r>
              <a:rPr/>
              <a:t>Площадка:</a:t>
            </a:r>
            <a:endParaRPr/>
          </a:p>
          <a:p>
            <a:pPr algn="r">
              <a:defRPr sz="1300">
                <a:solidFill>
                  <a:srgbClr val="FFFFFF"/>
                </a:solidFill>
              </a:defRPr>
            </a:pPr>
            <a:r>
              <a:rPr/>
              <a:t>Учащийся:</a:t>
            </a:r>
            <a:endParaRPr/>
          </a:p>
          <a:p>
            <a:pPr algn="r">
              <a:defRPr sz="1300">
                <a:solidFill>
                  <a:srgbClr val="FFFFFF"/>
                </a:solidFill>
              </a:defRPr>
            </a:pPr>
            <a:r>
              <a:rPr/>
              <a:t>Преподаватель:</a:t>
            </a:r>
            <a:endParaRPr/>
          </a:p>
          <a:p>
            <a:pPr algn="r">
              <a:defRPr sz="1300">
                <a:solidFill>
                  <a:srgbClr val="FFFFFF"/>
                </a:solidFill>
              </a:defRPr>
            </a:pPr>
            <a:r>
              <a:rPr/>
              <a:t>Дата:</a:t>
            </a:r>
            <a:endParaRPr/>
          </a:p>
        </p:txBody>
      </p:sp>
      <p:sp>
        <p:nvSpPr>
          <p:cNvPr id="953291977" name="TextBox 6"/>
          <p:cNvSpPr txBox="1"/>
          <p:nvPr/>
        </p:nvSpPr>
        <p:spPr bwMode="auto">
          <a:xfrm>
            <a:off x="3063240" y="3273552"/>
            <a:ext cx="2795972" cy="10823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rPr lang="ru-RU"/>
              <a:t>Новосибирск</a:t>
            </a:r>
            <a:endParaRPr/>
          </a:p>
          <a:p>
            <a:pPr>
              <a:defRPr sz="1300">
                <a:solidFill>
                  <a:srgbClr val="FFFFFF"/>
                </a:solidFill>
              </a:defRPr>
            </a:pPr>
            <a:r>
              <a:rPr lang="ru-RU"/>
              <a:t>ИЛНГТУ</a:t>
            </a:r>
            <a:endParaRPr/>
          </a:p>
          <a:p>
            <a:pPr>
              <a:defRPr sz="1300">
                <a:solidFill>
                  <a:srgbClr val="FFFFFF"/>
                </a:solidFill>
              </a:defRPr>
            </a:pPr>
            <a:r>
              <a:rPr lang="ru-RU"/>
              <a:t>Шумейко Александр, Червов Андрей</a:t>
            </a:r>
            <a:endParaRPr/>
          </a:p>
          <a:p>
            <a:pPr>
              <a:defRPr sz="1300">
                <a:solidFill>
                  <a:srgbClr val="FFFFFF"/>
                </a:solidFill>
              </a:defRPr>
            </a:pPr>
            <a:r>
              <a:rPr lang="ru-RU"/>
              <a:t>Муль Павел Фридрихович</a:t>
            </a:r>
            <a:endParaRPr/>
          </a:p>
          <a:p>
            <a:pPr>
              <a:defRPr sz="1300">
                <a:solidFill>
                  <a:srgbClr val="FFFFFF"/>
                </a:solidFill>
              </a:defRPr>
            </a:pPr>
            <a:r>
              <a:rPr/>
              <a:t>2026 г.</a:t>
            </a:r>
            <a:endParaRPr/>
          </a:p>
        </p:txBody>
      </p:sp>
      <p:sp>
        <p:nvSpPr>
          <p:cNvPr id="697887116" name="TextBox 7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1/10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25630278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2253568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Актуальность проекта</a:t>
            </a:r>
            <a:endParaRPr/>
          </a:p>
        </p:txBody>
      </p:sp>
      <p:sp>
        <p:nvSpPr>
          <p:cNvPr id="1662243160" name="TextBox 3"/>
          <p:cNvSpPr txBox="1"/>
          <p:nvPr/>
        </p:nvSpPr>
        <p:spPr bwMode="auto">
          <a:xfrm>
            <a:off x="658368" y="1207008"/>
            <a:ext cx="466344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rPr/>
              <a:t>Многим школьникам сложно запоминать длинные стихотворения.</a:t>
            </a:r>
            <a:endParaRPr/>
          </a:p>
          <a:p>
            <a:pPr>
              <a:spcAft>
                <a:spcPts val="8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rPr/>
              <a:t>Обычное перечитывание не показывает, какие слова уже выучены.</a:t>
            </a:r>
            <a:endParaRPr/>
          </a:p>
          <a:p>
            <a:pPr>
              <a:spcAft>
                <a:spcPts val="800"/>
              </a:spcAft>
              <a:defRPr sz="1900">
                <a:solidFill>
                  <a:srgbClr val="202020"/>
                </a:solidFill>
                <a:latin typeface="Calibri"/>
              </a:defRPr>
            </a:pPr>
            <a:r>
              <a:rPr/>
              <a:t>Приложение превращает заучивание в поэтапную тренировку с проверкой.</a:t>
            </a:r>
            <a:endParaRPr/>
          </a:p>
        </p:txBody>
      </p:sp>
      <p:sp>
        <p:nvSpPr>
          <p:cNvPr id="99925044" name="Rounded Rectangle 4"/>
          <p:cNvSpPr/>
          <p:nvPr/>
        </p:nvSpPr>
        <p:spPr bwMode="auto">
          <a:xfrm>
            <a:off x="5486400" y="1234440"/>
            <a:ext cx="2971800" cy="324612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3447578" name="Rectangle 5"/>
          <p:cNvSpPr/>
          <p:nvPr/>
        </p:nvSpPr>
        <p:spPr bwMode="auto">
          <a:xfrm>
            <a:off x="5486400" y="1234440"/>
            <a:ext cx="297180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88665986" name="Oval 6"/>
          <p:cNvSpPr/>
          <p:nvPr/>
        </p:nvSpPr>
        <p:spPr bwMode="auto">
          <a:xfrm>
            <a:off x="5605272" y="1380744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41258077" name="Oval 7"/>
          <p:cNvSpPr/>
          <p:nvPr/>
        </p:nvSpPr>
        <p:spPr bwMode="auto">
          <a:xfrm>
            <a:off x="5769864" y="1380744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01243043" name="Oval 8"/>
          <p:cNvSpPr/>
          <p:nvPr/>
        </p:nvSpPr>
        <p:spPr bwMode="auto">
          <a:xfrm>
            <a:off x="5934456" y="1380744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765123" name="TextBox 9"/>
          <p:cNvSpPr txBox="1"/>
          <p:nvPr/>
        </p:nvSpPr>
        <p:spPr bwMode="auto">
          <a:xfrm>
            <a:off x="6144768" y="1325880"/>
            <a:ext cx="214884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идея алгоритма</a:t>
            </a:r>
            <a:endParaRPr/>
          </a:p>
        </p:txBody>
      </p:sp>
      <p:sp>
        <p:nvSpPr>
          <p:cNvPr id="1200523930" name="TextBox 10"/>
          <p:cNvSpPr txBox="1"/>
          <p:nvPr/>
        </p:nvSpPr>
        <p:spPr bwMode="auto">
          <a:xfrm>
            <a:off x="5650992" y="1737360"/>
            <a:ext cx="2679192" cy="2651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Проблема → нет контроля памяти</a:t>
            </a:r>
            <a:br>
              <a:rPr/>
            </a:br>
            <a:r>
              <a:rPr/>
              <a:t>Решение → скрывать слова</a:t>
            </a:r>
            <a:br>
              <a:rPr/>
            </a:br>
            <a:r>
              <a:rPr/>
              <a:t>Проверка → сравнить ответ</a:t>
            </a:r>
            <a:br>
              <a:rPr/>
            </a:br>
            <a:r>
              <a:rPr/>
              <a:t>Итог → балл и прогресс</a:t>
            </a:r>
            <a:endParaRPr/>
          </a:p>
        </p:txBody>
      </p:sp>
      <p:sp>
        <p:nvSpPr>
          <p:cNvPr id="1294252806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2/10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47385223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29936004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Цель и задачи проекта</a:t>
            </a:r>
            <a:endParaRPr/>
          </a:p>
        </p:txBody>
      </p:sp>
      <p:sp>
        <p:nvSpPr>
          <p:cNvPr id="1201682555" name="TextBox 3"/>
          <p:cNvSpPr txBox="1"/>
          <p:nvPr/>
        </p:nvSpPr>
        <p:spPr bwMode="auto">
          <a:xfrm>
            <a:off x="658368" y="1133856"/>
            <a:ext cx="502920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Цель: создать Android-приложение, которое помогает учить стихи по памяти.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Задачи: загрузка текста, скрытие слов, проверка ошибок, подсчёт баллов.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Дополнительно: встроенный поиск, сохранение прогресса и работа с длинным текстом.</a:t>
            </a:r>
            <a:endParaRPr/>
          </a:p>
        </p:txBody>
      </p:sp>
      <p:sp>
        <p:nvSpPr>
          <p:cNvPr id="797090554" name="Rounded Rectangle 4"/>
          <p:cNvSpPr/>
          <p:nvPr/>
        </p:nvSpPr>
        <p:spPr bwMode="auto">
          <a:xfrm>
            <a:off x="5852160" y="1325880"/>
            <a:ext cx="1097280" cy="310896"/>
          </a:xfrm>
          <a:prstGeom prst="roundRect">
            <a:avLst>
              <a:gd name="adj" fmla="val 16667"/>
            </a:avLst>
          </a:prstGeom>
          <a:solidFill>
            <a:srgbClr val="EBF4FC"/>
          </a:solidFill>
          <a:ln>
            <a:solidFill>
              <a:srgbClr val="96B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6771778" name="TextBox 5"/>
          <p:cNvSpPr txBox="1"/>
          <p:nvPr/>
        </p:nvSpPr>
        <p:spPr bwMode="auto">
          <a:xfrm>
            <a:off x="5961888" y="1380744"/>
            <a:ext cx="877824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rPr/>
              <a:t>Java</a:t>
            </a:r>
            <a:endParaRPr/>
          </a:p>
        </p:txBody>
      </p:sp>
      <p:sp>
        <p:nvSpPr>
          <p:cNvPr id="20805163" name="Rounded Rectangle 6"/>
          <p:cNvSpPr/>
          <p:nvPr/>
        </p:nvSpPr>
        <p:spPr bwMode="auto">
          <a:xfrm>
            <a:off x="7086600" y="1325880"/>
            <a:ext cx="1325880" cy="310896"/>
          </a:xfrm>
          <a:prstGeom prst="roundRect">
            <a:avLst>
              <a:gd name="adj" fmla="val 16667"/>
            </a:avLst>
          </a:prstGeom>
          <a:solidFill>
            <a:srgbClr val="EBF4FC"/>
          </a:solidFill>
          <a:ln>
            <a:solidFill>
              <a:srgbClr val="96B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56913140" name="TextBox 7"/>
          <p:cNvSpPr txBox="1"/>
          <p:nvPr/>
        </p:nvSpPr>
        <p:spPr bwMode="auto">
          <a:xfrm>
            <a:off x="7196328" y="1380744"/>
            <a:ext cx="1106424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rPr/>
              <a:t>Android SDK</a:t>
            </a:r>
            <a:endParaRPr/>
          </a:p>
        </p:txBody>
      </p:sp>
      <p:sp>
        <p:nvSpPr>
          <p:cNvPr id="854237478" name="Rounded Rectangle 8"/>
          <p:cNvSpPr/>
          <p:nvPr/>
        </p:nvSpPr>
        <p:spPr bwMode="auto">
          <a:xfrm>
            <a:off x="5852160" y="1828800"/>
            <a:ext cx="1234440" cy="310896"/>
          </a:xfrm>
          <a:prstGeom prst="roundRect">
            <a:avLst>
              <a:gd name="adj" fmla="val 16667"/>
            </a:avLst>
          </a:prstGeom>
          <a:solidFill>
            <a:srgbClr val="EBF4FC"/>
          </a:solidFill>
          <a:ln>
            <a:solidFill>
              <a:srgbClr val="96B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0949397" name="TextBox 9"/>
          <p:cNvSpPr txBox="1"/>
          <p:nvPr/>
        </p:nvSpPr>
        <p:spPr bwMode="auto">
          <a:xfrm>
            <a:off x="5961888" y="1883664"/>
            <a:ext cx="1014984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rPr/>
              <a:t>WebView</a:t>
            </a:r>
            <a:endParaRPr/>
          </a:p>
        </p:txBody>
      </p:sp>
      <p:sp>
        <p:nvSpPr>
          <p:cNvPr id="1049369054" name="Rounded Rectangle 10"/>
          <p:cNvSpPr/>
          <p:nvPr/>
        </p:nvSpPr>
        <p:spPr bwMode="auto">
          <a:xfrm>
            <a:off x="7223760" y="1828800"/>
            <a:ext cx="1188720" cy="310896"/>
          </a:xfrm>
          <a:prstGeom prst="roundRect">
            <a:avLst>
              <a:gd name="adj" fmla="val 16667"/>
            </a:avLst>
          </a:prstGeom>
          <a:solidFill>
            <a:srgbClr val="EBF4FC"/>
          </a:solidFill>
          <a:ln>
            <a:solidFill>
              <a:srgbClr val="96B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4562676" name="TextBox 11"/>
          <p:cNvSpPr txBox="1"/>
          <p:nvPr/>
        </p:nvSpPr>
        <p:spPr bwMode="auto">
          <a:xfrm>
            <a:off x="7333488" y="1883664"/>
            <a:ext cx="969264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rPr/>
              <a:t>XML layout</a:t>
            </a:r>
            <a:endParaRPr/>
          </a:p>
        </p:txBody>
      </p:sp>
      <p:sp>
        <p:nvSpPr>
          <p:cNvPr id="148275290" name="Rounded Rectangle 12"/>
          <p:cNvSpPr/>
          <p:nvPr/>
        </p:nvSpPr>
        <p:spPr bwMode="auto">
          <a:xfrm>
            <a:off x="5852160" y="2331720"/>
            <a:ext cx="1143000" cy="310896"/>
          </a:xfrm>
          <a:prstGeom prst="roundRect">
            <a:avLst>
              <a:gd name="adj" fmla="val 16667"/>
            </a:avLst>
          </a:prstGeom>
          <a:solidFill>
            <a:srgbClr val="EBF4FC"/>
          </a:solidFill>
          <a:ln>
            <a:solidFill>
              <a:srgbClr val="96B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3975792" name="TextBox 13"/>
          <p:cNvSpPr txBox="1"/>
          <p:nvPr/>
        </p:nvSpPr>
        <p:spPr bwMode="auto">
          <a:xfrm>
            <a:off x="5961888" y="2386584"/>
            <a:ext cx="923544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rPr/>
              <a:t>Handler</a:t>
            </a:r>
            <a:endParaRPr/>
          </a:p>
        </p:txBody>
      </p:sp>
      <p:sp>
        <p:nvSpPr>
          <p:cNvPr id="2059542527" name="Rounded Rectangle 14"/>
          <p:cNvSpPr/>
          <p:nvPr/>
        </p:nvSpPr>
        <p:spPr bwMode="auto">
          <a:xfrm>
            <a:off x="7132320" y="2331720"/>
            <a:ext cx="914400" cy="310896"/>
          </a:xfrm>
          <a:prstGeom prst="roundRect">
            <a:avLst>
              <a:gd name="adj" fmla="val 16667"/>
            </a:avLst>
          </a:prstGeom>
          <a:solidFill>
            <a:srgbClr val="EBF4FC"/>
          </a:solidFill>
          <a:ln>
            <a:solidFill>
              <a:srgbClr val="96B9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7241307" name="TextBox 15"/>
          <p:cNvSpPr txBox="1"/>
          <p:nvPr/>
        </p:nvSpPr>
        <p:spPr bwMode="auto">
          <a:xfrm>
            <a:off x="7242048" y="2386584"/>
            <a:ext cx="694944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0070C0"/>
                </a:solidFill>
                <a:latin typeface="Calibri"/>
              </a:defRPr>
            </a:pPr>
            <a:r>
              <a:rPr/>
              <a:t>Regex</a:t>
            </a:r>
            <a:endParaRPr/>
          </a:p>
        </p:txBody>
      </p:sp>
      <p:sp>
        <p:nvSpPr>
          <p:cNvPr id="504590066" name="Rounded Rectangle 16"/>
          <p:cNvSpPr/>
          <p:nvPr/>
        </p:nvSpPr>
        <p:spPr bwMode="auto">
          <a:xfrm>
            <a:off x="5715000" y="2971800"/>
            <a:ext cx="2880360" cy="118872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5282172" name="Rectangle 17"/>
          <p:cNvSpPr/>
          <p:nvPr/>
        </p:nvSpPr>
        <p:spPr bwMode="auto">
          <a:xfrm>
            <a:off x="5715000" y="2971800"/>
            <a:ext cx="288036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38564303" name="Oval 18"/>
          <p:cNvSpPr/>
          <p:nvPr/>
        </p:nvSpPr>
        <p:spPr bwMode="auto">
          <a:xfrm>
            <a:off x="5833872" y="3118104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02827845" name="Oval 19"/>
          <p:cNvSpPr/>
          <p:nvPr/>
        </p:nvSpPr>
        <p:spPr bwMode="auto">
          <a:xfrm>
            <a:off x="5998464" y="3118104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4321676" name="Oval 20"/>
          <p:cNvSpPr/>
          <p:nvPr/>
        </p:nvSpPr>
        <p:spPr bwMode="auto">
          <a:xfrm>
            <a:off x="6163056" y="3118104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71925351" name="TextBox 21"/>
          <p:cNvSpPr txBox="1"/>
          <p:nvPr/>
        </p:nvSpPr>
        <p:spPr bwMode="auto">
          <a:xfrm>
            <a:off x="6373368" y="3063240"/>
            <a:ext cx="20574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файлы проекта</a:t>
            </a:r>
            <a:endParaRPr/>
          </a:p>
        </p:txBody>
      </p:sp>
      <p:sp>
        <p:nvSpPr>
          <p:cNvPr id="1089796103" name="TextBox 22"/>
          <p:cNvSpPr txBox="1"/>
          <p:nvPr/>
        </p:nvSpPr>
        <p:spPr bwMode="auto">
          <a:xfrm>
            <a:off x="5879592" y="3474720"/>
            <a:ext cx="2587752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MainActivity.java</a:t>
            </a:r>
            <a:br>
              <a:rPr/>
            </a:br>
            <a:r>
              <a:rPr/>
              <a:t>SearchWebActivity.java</a:t>
            </a:r>
            <a:br>
              <a:rPr/>
            </a:br>
            <a:r>
              <a:rPr/>
              <a:t>activity_main.xml</a:t>
            </a:r>
            <a:br>
              <a:rPr/>
            </a:br>
            <a:r>
              <a:rPr/>
              <a:t>AndroidManifest.xml</a:t>
            </a:r>
            <a:endParaRPr/>
          </a:p>
        </p:txBody>
      </p:sp>
      <p:sp>
        <p:nvSpPr>
          <p:cNvPr id="521723392" name="TextBox 23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3/10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76000944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86007599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Интерфейс приложения</a:t>
            </a:r>
            <a:endParaRPr/>
          </a:p>
        </p:txBody>
      </p:sp>
      <p:sp>
        <p:nvSpPr>
          <p:cNvPr id="1531766408" name="TextBox 3"/>
          <p:cNvSpPr txBox="1"/>
          <p:nvPr/>
        </p:nvSpPr>
        <p:spPr bwMode="auto">
          <a:xfrm>
            <a:off x="658368" y="1097280"/>
            <a:ext cx="4892039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/>
              <a:t>Верхняя часть: поле для ссылки или названия стихотворения.</a:t>
            </a: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/>
              <a:t>Кнопка «Поиск» открывает два варианта: по ссылке и в интернете.</a:t>
            </a: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/>
              <a:t>Основная область показывает правила, а затем текст стихотворения.</a:t>
            </a:r>
            <a:endParaRPr/>
          </a:p>
          <a:p>
            <a:pPr>
              <a:spcAft>
                <a:spcPts val="800"/>
              </a:spcAft>
              <a:defRPr sz="1600">
                <a:solidFill>
                  <a:srgbClr val="202020"/>
                </a:solidFill>
                <a:latin typeface="Calibri"/>
              </a:defRPr>
            </a:pPr>
            <a:r>
              <a:rPr/>
              <a:t>Кнопка «Действия» открывает проверку, следующий этап, сохранение и главный экран.</a:t>
            </a:r>
            <a:endParaRPr/>
          </a:p>
        </p:txBody>
      </p:sp>
      <p:sp>
        <p:nvSpPr>
          <p:cNvPr id="414611611" name="Rounded Rectangle 4"/>
          <p:cNvSpPr/>
          <p:nvPr/>
        </p:nvSpPr>
        <p:spPr bwMode="auto">
          <a:xfrm>
            <a:off x="5577840" y="1170432"/>
            <a:ext cx="3063240" cy="278892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46224967" name="Rectangle 5"/>
          <p:cNvSpPr/>
          <p:nvPr/>
        </p:nvSpPr>
        <p:spPr bwMode="auto">
          <a:xfrm>
            <a:off x="5577840" y="1170432"/>
            <a:ext cx="306324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5602305" name="Oval 6"/>
          <p:cNvSpPr/>
          <p:nvPr/>
        </p:nvSpPr>
        <p:spPr bwMode="auto">
          <a:xfrm>
            <a:off x="5696712" y="1316736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22770555" name="Oval 7"/>
          <p:cNvSpPr/>
          <p:nvPr/>
        </p:nvSpPr>
        <p:spPr bwMode="auto">
          <a:xfrm>
            <a:off x="5861303" y="1316736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77278460" name="Oval 8"/>
          <p:cNvSpPr/>
          <p:nvPr/>
        </p:nvSpPr>
        <p:spPr bwMode="auto">
          <a:xfrm>
            <a:off x="6025896" y="1316736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1122743" name="TextBox 9"/>
          <p:cNvSpPr txBox="1"/>
          <p:nvPr/>
        </p:nvSpPr>
        <p:spPr bwMode="auto">
          <a:xfrm>
            <a:off x="6236207" y="1261872"/>
            <a:ext cx="2240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activity_main.xml</a:t>
            </a:r>
            <a:endParaRPr/>
          </a:p>
        </p:txBody>
      </p:sp>
      <p:sp>
        <p:nvSpPr>
          <p:cNvPr id="1739735163" name="TextBox 10"/>
          <p:cNvSpPr txBox="1"/>
          <p:nvPr/>
        </p:nvSpPr>
        <p:spPr bwMode="auto">
          <a:xfrm>
            <a:off x="5742431" y="1673352"/>
            <a:ext cx="2770632" cy="2194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&lt;EditText</a:t>
            </a:r>
            <a:br>
              <a:rPr/>
            </a:br>
            <a:r>
              <a:rPr/>
              <a:t>    android:id="@+id/poemEditText"</a:t>
            </a:r>
            <a:br>
              <a:rPr/>
            </a:br>
            <a:r>
              <a:rPr/>
              <a:t>    android:inputType="textMultiLine"</a:t>
            </a:r>
            <a:br>
              <a:rPr/>
            </a:br>
            <a:r>
              <a:rPr/>
              <a:t>    android:imeOptions="flagNoExtractUi" /&gt;</a:t>
            </a:r>
            <a:endParaRPr/>
          </a:p>
        </p:txBody>
      </p:sp>
      <p:sp>
        <p:nvSpPr>
          <p:cNvPr id="1177563827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4/10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754052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87209163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Поиск и загрузка текста</a:t>
            </a:r>
            <a:endParaRPr/>
          </a:p>
        </p:txBody>
      </p:sp>
      <p:sp>
        <p:nvSpPr>
          <p:cNvPr id="612410483" name="TextBox 3"/>
          <p:cNvSpPr txBox="1"/>
          <p:nvPr/>
        </p:nvSpPr>
        <p:spPr bwMode="auto">
          <a:xfrm>
            <a:off x="658368" y="1207008"/>
            <a:ext cx="48463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Если пользователь вставляет ссылку ilibrary.ru или culture.ru, приложение грузит её напрямую.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Для других сайтов открывается встроенный WebView.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Внутри WebView можно выделить чистый текст стихотворения и вставить его обратно.</a:t>
            </a:r>
            <a:endParaRPr/>
          </a:p>
        </p:txBody>
      </p:sp>
      <p:sp>
        <p:nvSpPr>
          <p:cNvPr id="535582304" name="Rounded Rectangle 4"/>
          <p:cNvSpPr/>
          <p:nvPr/>
        </p:nvSpPr>
        <p:spPr bwMode="auto">
          <a:xfrm>
            <a:off x="5486400" y="1078992"/>
            <a:ext cx="3108960" cy="347472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64027400" name="Rectangle 5"/>
          <p:cNvSpPr/>
          <p:nvPr/>
        </p:nvSpPr>
        <p:spPr bwMode="auto">
          <a:xfrm>
            <a:off x="5486400" y="1078992"/>
            <a:ext cx="310896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97496430" name="Oval 6"/>
          <p:cNvSpPr/>
          <p:nvPr/>
        </p:nvSpPr>
        <p:spPr bwMode="auto">
          <a:xfrm>
            <a:off x="5605272" y="1225295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85718680" name="Oval 7"/>
          <p:cNvSpPr/>
          <p:nvPr/>
        </p:nvSpPr>
        <p:spPr bwMode="auto">
          <a:xfrm>
            <a:off x="5769864" y="1225295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81574528" name="Oval 8"/>
          <p:cNvSpPr/>
          <p:nvPr/>
        </p:nvSpPr>
        <p:spPr bwMode="auto">
          <a:xfrm>
            <a:off x="5934456" y="1225295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64338862" name="TextBox 9"/>
          <p:cNvSpPr txBox="1"/>
          <p:nvPr/>
        </p:nvSpPr>
        <p:spPr bwMode="auto">
          <a:xfrm>
            <a:off x="6144768" y="1170432"/>
            <a:ext cx="22860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обработка ссылки</a:t>
            </a:r>
            <a:endParaRPr/>
          </a:p>
        </p:txBody>
      </p:sp>
      <p:sp>
        <p:nvSpPr>
          <p:cNvPr id="975519215" name="TextBox 10"/>
          <p:cNvSpPr txBox="1"/>
          <p:nvPr/>
        </p:nvSpPr>
        <p:spPr bwMode="auto">
          <a:xfrm>
            <a:off x="5650992" y="1581912"/>
            <a:ext cx="2816352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if (isSupportedPoemUrl(url)) {</a:t>
            </a:r>
            <a:br>
              <a:rPr/>
            </a:br>
            <a:r>
              <a:rPr/>
              <a:t>    downloadPoemFromInternet(url);</a:t>
            </a:r>
            <a:br>
              <a:rPr/>
            </a:br>
            <a:r>
              <a:rPr/>
              <a:t>} else {</a:t>
            </a:r>
            <a:br>
              <a:rPr/>
            </a:br>
            <a:r>
              <a:rPr/>
              <a:t>    openWebSearchWithQuery(url);</a:t>
            </a:r>
            <a:br>
              <a:rPr/>
            </a:br>
            <a:r>
              <a:rPr/>
              <a:t>}</a:t>
            </a:r>
            <a:br>
              <a:rPr/>
            </a:br>
            <a:br>
              <a:rPr/>
            </a:br>
            <a:r>
              <a:rPr/>
              <a:t>startActivityForResult(intent,</a:t>
            </a:r>
            <a:br>
              <a:rPr/>
            </a:br>
            <a:r>
              <a:rPr/>
              <a:t>        REQUEST_WEB_SEARCH);</a:t>
            </a:r>
            <a:endParaRPr/>
          </a:p>
        </p:txBody>
      </p:sp>
      <p:sp>
        <p:nvSpPr>
          <p:cNvPr id="1773523944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5/10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50017878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5727028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Встроенный WebView</a:t>
            </a:r>
            <a:endParaRPr/>
          </a:p>
        </p:txBody>
      </p:sp>
      <p:sp>
        <p:nvSpPr>
          <p:cNvPr id="243681450" name="TextBox 3"/>
          <p:cNvSpPr txBox="1"/>
          <p:nvPr/>
        </p:nvSpPr>
        <p:spPr bwMode="auto">
          <a:xfrm>
            <a:off x="658368" y="1207008"/>
            <a:ext cx="48463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SearchWebActivity работает как мини-браузер внутри приложения.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После открытия сайта пользователь нажимает «Вставить текст страницы».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Для точности лучше выделить только текст стихотворения на сайте.</a:t>
            </a:r>
            <a:endParaRPr/>
          </a:p>
        </p:txBody>
      </p:sp>
      <p:sp>
        <p:nvSpPr>
          <p:cNvPr id="1062185287" name="Rounded Rectangle 4"/>
          <p:cNvSpPr/>
          <p:nvPr/>
        </p:nvSpPr>
        <p:spPr bwMode="auto">
          <a:xfrm>
            <a:off x="5486400" y="1078992"/>
            <a:ext cx="3108960" cy="347472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06855573" name="Rectangle 5"/>
          <p:cNvSpPr/>
          <p:nvPr/>
        </p:nvSpPr>
        <p:spPr bwMode="auto">
          <a:xfrm>
            <a:off x="5486400" y="1078992"/>
            <a:ext cx="310896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43971651" name="Oval 6"/>
          <p:cNvSpPr/>
          <p:nvPr/>
        </p:nvSpPr>
        <p:spPr bwMode="auto">
          <a:xfrm>
            <a:off x="5605272" y="1225295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16563643" name="Oval 7"/>
          <p:cNvSpPr/>
          <p:nvPr/>
        </p:nvSpPr>
        <p:spPr bwMode="auto">
          <a:xfrm>
            <a:off x="5769864" y="1225295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2078230" name="Oval 8"/>
          <p:cNvSpPr/>
          <p:nvPr/>
        </p:nvSpPr>
        <p:spPr bwMode="auto">
          <a:xfrm>
            <a:off x="5934456" y="1225295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17733815" name="TextBox 9"/>
          <p:cNvSpPr txBox="1"/>
          <p:nvPr/>
        </p:nvSpPr>
        <p:spPr bwMode="auto">
          <a:xfrm>
            <a:off x="6144768" y="1170432"/>
            <a:ext cx="228600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SearchWebActivity.java</a:t>
            </a:r>
            <a:endParaRPr/>
          </a:p>
        </p:txBody>
      </p:sp>
      <p:sp>
        <p:nvSpPr>
          <p:cNvPr id="686764225" name="TextBox 10"/>
          <p:cNvSpPr txBox="1"/>
          <p:nvPr/>
        </p:nvSpPr>
        <p:spPr bwMode="auto">
          <a:xfrm>
            <a:off x="5650992" y="1581912"/>
            <a:ext cx="2816352" cy="2880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var selected = window.getSelection().toString();</a:t>
            </a:r>
            <a:br>
              <a:rPr/>
            </a:br>
            <a:br>
              <a:rPr/>
            </a:br>
            <a:r>
              <a:rPr/>
              <a:t>if (selected.trim().length &gt; 20) {</a:t>
            </a:r>
            <a:br>
              <a:rPr/>
            </a:br>
            <a:r>
              <a:rPr/>
              <a:t>    PageTextBridge.setText(selected);</a:t>
            </a:r>
            <a:br>
              <a:rPr/>
            </a:br>
            <a:r>
              <a:rPr/>
              <a:t>}</a:t>
            </a:r>
            <a:br>
              <a:rPr/>
            </a:br>
            <a:br>
              <a:rPr/>
            </a:br>
            <a:r>
              <a:rPr/>
              <a:t>webView.loadUrl(searchUrl);</a:t>
            </a:r>
            <a:endParaRPr/>
          </a:p>
        </p:txBody>
      </p:sp>
      <p:sp>
        <p:nvSpPr>
          <p:cNvPr id="1256703690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6/10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00570192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949703386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Алгоритм скрытия слов</a:t>
            </a:r>
            <a:endParaRPr/>
          </a:p>
        </p:txBody>
      </p:sp>
      <p:sp>
        <p:nvSpPr>
          <p:cNvPr id="1906824065" name="TextBox 3"/>
          <p:cNvSpPr txBox="1"/>
          <p:nvPr/>
        </p:nvSpPr>
        <p:spPr bwMode="auto">
          <a:xfrm>
            <a:off x="658368" y="1143000"/>
            <a:ext cx="48463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Текст разбивается на слова и разделители.</a:t>
            </a: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Порядок скрытия перемешивается случайно.</a:t>
            </a: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На каждом этапе скрывается всё больше слов: сначала около 10%, затем больше.</a:t>
            </a: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Ответы пользователя сохраняются, чтобы не терялись при повторной проверке.</a:t>
            </a:r>
            <a:endParaRPr/>
          </a:p>
        </p:txBody>
      </p:sp>
      <p:sp>
        <p:nvSpPr>
          <p:cNvPr id="335094908" name="Rounded Rectangle 4"/>
          <p:cNvSpPr/>
          <p:nvPr/>
        </p:nvSpPr>
        <p:spPr bwMode="auto">
          <a:xfrm>
            <a:off x="5486400" y="1042415"/>
            <a:ext cx="3154680" cy="361188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09179094" name="Rectangle 5"/>
          <p:cNvSpPr/>
          <p:nvPr/>
        </p:nvSpPr>
        <p:spPr bwMode="auto">
          <a:xfrm>
            <a:off x="5486400" y="1042415"/>
            <a:ext cx="315468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53461910" name="Oval 6"/>
          <p:cNvSpPr/>
          <p:nvPr/>
        </p:nvSpPr>
        <p:spPr bwMode="auto">
          <a:xfrm>
            <a:off x="5605272" y="1188719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7409697" name="Oval 7"/>
          <p:cNvSpPr/>
          <p:nvPr/>
        </p:nvSpPr>
        <p:spPr bwMode="auto">
          <a:xfrm>
            <a:off x="5769864" y="1188719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98849045" name="Oval 8"/>
          <p:cNvSpPr/>
          <p:nvPr/>
        </p:nvSpPr>
        <p:spPr bwMode="auto">
          <a:xfrm>
            <a:off x="5934456" y="1188719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08115900" name="TextBox 9"/>
          <p:cNvSpPr txBox="1"/>
          <p:nvPr/>
        </p:nvSpPr>
        <p:spPr bwMode="auto">
          <a:xfrm>
            <a:off x="6144768" y="1133856"/>
            <a:ext cx="23317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advanceHidingStage()</a:t>
            </a:r>
            <a:endParaRPr/>
          </a:p>
        </p:txBody>
      </p:sp>
      <p:sp>
        <p:nvSpPr>
          <p:cNvPr id="395322931" name="TextBox 10"/>
          <p:cNvSpPr txBox="1"/>
          <p:nvPr/>
        </p:nvSpPr>
        <p:spPr bwMode="auto">
          <a:xfrm>
            <a:off x="5650992" y="1545336"/>
            <a:ext cx="2862072" cy="30175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double targetPercent = Math.min(1.0,</a:t>
            </a:r>
            <a:br>
              <a:rPr/>
            </a:br>
            <a:r>
              <a:rPr/>
              <a:t>        0.10 + hideStep * 0.15);</a:t>
            </a:r>
            <a:br>
              <a:rPr/>
            </a:br>
            <a:br>
              <a:rPr/>
            </a:br>
            <a:r>
              <a:rPr/>
              <a:t>int targetHiddenCount = (int) Math.ceil(</a:t>
            </a:r>
            <a:br>
              <a:rPr/>
            </a:br>
            <a:r>
              <a:rPr/>
              <a:t>        originalWords.size() * targetPercent);</a:t>
            </a:r>
            <a:br>
              <a:rPr/>
            </a:br>
            <a:br>
              <a:rPr/>
            </a:br>
            <a:r>
              <a:rPr/>
              <a:t>hiddenWordIndexes.add(hideOrder.get(i));</a:t>
            </a:r>
            <a:endParaRPr/>
          </a:p>
        </p:txBody>
      </p:sp>
      <p:sp>
        <p:nvSpPr>
          <p:cNvPr id="1956312081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7/10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13239913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7377018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Проверка и баллы</a:t>
            </a:r>
            <a:endParaRPr/>
          </a:p>
        </p:txBody>
      </p:sp>
      <p:sp>
        <p:nvSpPr>
          <p:cNvPr id="2104393517" name="TextBox 3"/>
          <p:cNvSpPr txBox="1"/>
          <p:nvPr/>
        </p:nvSpPr>
        <p:spPr bwMode="auto">
          <a:xfrm>
            <a:off x="658368" y="1207008"/>
            <a:ext cx="484632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Проверяются только скрытые слова — видимый текст остаётся подсказкой.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Ответ нормализуется: регистр не важен, «ё» и «е» считаются одинаковыми.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Итоговый балл считается как процент правильных ответов.</a:t>
            </a:r>
            <a:endParaRPr/>
          </a:p>
        </p:txBody>
      </p:sp>
      <p:sp>
        <p:nvSpPr>
          <p:cNvPr id="1932434568" name="Rounded Rectangle 4"/>
          <p:cNvSpPr/>
          <p:nvPr/>
        </p:nvSpPr>
        <p:spPr bwMode="auto">
          <a:xfrm>
            <a:off x="5486400" y="987552"/>
            <a:ext cx="3154680" cy="370332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8042823" name="Rectangle 5"/>
          <p:cNvSpPr/>
          <p:nvPr/>
        </p:nvSpPr>
        <p:spPr bwMode="auto">
          <a:xfrm>
            <a:off x="5486400" y="987552"/>
            <a:ext cx="315468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50734997" name="Oval 6"/>
          <p:cNvSpPr/>
          <p:nvPr/>
        </p:nvSpPr>
        <p:spPr bwMode="auto">
          <a:xfrm>
            <a:off x="5605272" y="1133856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49826137" name="Oval 7"/>
          <p:cNvSpPr/>
          <p:nvPr/>
        </p:nvSpPr>
        <p:spPr bwMode="auto">
          <a:xfrm>
            <a:off x="5769864" y="1133856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02202863" name="Oval 8"/>
          <p:cNvSpPr/>
          <p:nvPr/>
        </p:nvSpPr>
        <p:spPr bwMode="auto">
          <a:xfrm>
            <a:off x="5934456" y="1133856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51551214" name="TextBox 9"/>
          <p:cNvSpPr txBox="1"/>
          <p:nvPr/>
        </p:nvSpPr>
        <p:spPr bwMode="auto">
          <a:xfrm>
            <a:off x="6144768" y="1078992"/>
            <a:ext cx="23317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checkCurrentStage()</a:t>
            </a:r>
            <a:endParaRPr/>
          </a:p>
        </p:txBody>
      </p:sp>
      <p:sp>
        <p:nvSpPr>
          <p:cNvPr id="1338552939" name="TextBox 10"/>
          <p:cNvSpPr txBox="1"/>
          <p:nvPr/>
        </p:nvSpPr>
        <p:spPr bwMode="auto">
          <a:xfrm>
            <a:off x="5650992" y="1490472"/>
            <a:ext cx="2862072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String actual = normalizeAnswerWord(actualRaw);</a:t>
            </a:r>
            <a:br>
              <a:rPr/>
            </a:br>
            <a:r>
              <a:rPr/>
              <a:t>String expected = normalizeAnswerWord(expectedRaw);</a:t>
            </a:r>
            <a:br>
              <a:rPr/>
            </a:br>
            <a:br>
              <a:rPr/>
            </a:br>
            <a:r>
              <a:rPr/>
              <a:t>if (actual.equals(expected)) {</a:t>
            </a:r>
            <a:br>
              <a:rPr/>
            </a:br>
            <a:r>
              <a:rPr/>
              <a:t>    correct++;</a:t>
            </a:r>
            <a:br>
              <a:rPr/>
            </a:br>
            <a:r>
              <a:rPr/>
              <a:t>} else {</a:t>
            </a:r>
            <a:br>
              <a:rPr/>
            </a:br>
            <a:r>
              <a:rPr/>
              <a:t>    errors++;</a:t>
            </a:r>
            <a:br>
              <a:rPr/>
            </a:br>
            <a:r>
              <a:rPr/>
              <a:t>}</a:t>
            </a:r>
            <a:br>
              <a:rPr/>
            </a:br>
            <a:br>
              <a:rPr/>
            </a:br>
            <a:r>
              <a:rPr/>
              <a:t>percent = Math.round(correct * 100f / total);</a:t>
            </a:r>
            <a:endParaRPr/>
          </a:p>
        </p:txBody>
      </p:sp>
      <p:sp>
        <p:nvSpPr>
          <p:cNvPr id="1741889581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8/10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21266588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68410907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Таймер и сохранение состояния</a:t>
            </a:r>
            <a:endParaRPr/>
          </a:p>
        </p:txBody>
      </p:sp>
      <p:sp>
        <p:nvSpPr>
          <p:cNvPr id="1438369879" name="TextBox 3"/>
          <p:cNvSpPr txBox="1"/>
          <p:nvPr/>
        </p:nvSpPr>
        <p:spPr bwMode="auto">
          <a:xfrm>
            <a:off x="658368" y="1143000"/>
            <a:ext cx="480060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Handler обновляет время каждую секунду.</a:t>
            </a: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Автоматический переход этапа происходит через заданный интервал.</a:t>
            </a: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При повороте экрана сохраняются исходный текст, скрытые слова и ответы.</a:t>
            </a:r>
            <a:endParaRPr/>
          </a:p>
          <a:p>
            <a:pPr>
              <a:spcAft>
                <a:spcPts val="800"/>
              </a:spcAft>
              <a:defRPr sz="1700">
                <a:solidFill>
                  <a:srgbClr val="202020"/>
                </a:solidFill>
                <a:latin typeface="Calibri"/>
              </a:defRPr>
            </a:pPr>
            <a:r>
              <a:rPr/>
              <a:t>Для клавиатуры используется adjustResize и flagNoExtractUi.</a:t>
            </a:r>
            <a:endParaRPr/>
          </a:p>
        </p:txBody>
      </p:sp>
      <p:sp>
        <p:nvSpPr>
          <p:cNvPr id="1637487603" name="Rounded Rectangle 4"/>
          <p:cNvSpPr/>
          <p:nvPr/>
        </p:nvSpPr>
        <p:spPr bwMode="auto">
          <a:xfrm>
            <a:off x="5486400" y="1078992"/>
            <a:ext cx="3154680" cy="356616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5186422" name="Rectangle 5"/>
          <p:cNvSpPr/>
          <p:nvPr/>
        </p:nvSpPr>
        <p:spPr bwMode="auto">
          <a:xfrm>
            <a:off x="5486400" y="1078992"/>
            <a:ext cx="315468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9722571" name="Oval 6"/>
          <p:cNvSpPr/>
          <p:nvPr/>
        </p:nvSpPr>
        <p:spPr bwMode="auto">
          <a:xfrm>
            <a:off x="5605272" y="1225295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209141" name="Oval 7"/>
          <p:cNvSpPr/>
          <p:nvPr/>
        </p:nvSpPr>
        <p:spPr bwMode="auto">
          <a:xfrm>
            <a:off x="5769864" y="1225295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67022300" name="Oval 8"/>
          <p:cNvSpPr/>
          <p:nvPr/>
        </p:nvSpPr>
        <p:spPr bwMode="auto">
          <a:xfrm>
            <a:off x="5934456" y="1225295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1732471" name="TextBox 9"/>
          <p:cNvSpPr txBox="1"/>
          <p:nvPr/>
        </p:nvSpPr>
        <p:spPr bwMode="auto">
          <a:xfrm>
            <a:off x="6144768" y="1170432"/>
            <a:ext cx="233172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таймер и Bundle</a:t>
            </a:r>
            <a:endParaRPr/>
          </a:p>
        </p:txBody>
      </p:sp>
      <p:sp>
        <p:nvSpPr>
          <p:cNvPr id="1423763625" name="TextBox 10"/>
          <p:cNvSpPr txBox="1"/>
          <p:nvPr/>
        </p:nvSpPr>
        <p:spPr bwMode="auto">
          <a:xfrm>
            <a:off x="5650992" y="1581912"/>
            <a:ext cx="2862072" cy="2971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handler.postDelayed(timerRunnable, 1000L);</a:t>
            </a:r>
            <a:br>
              <a:rPr/>
            </a:br>
            <a:br>
              <a:rPr/>
            </a:br>
            <a:r>
              <a:rPr/>
              <a:t>outState.putString("originalText", originalText);</a:t>
            </a:r>
            <a:br>
              <a:rPr/>
            </a:br>
            <a:r>
              <a:rPr/>
              <a:t>outState.putIntegerArrayList("hideOrder", hideOrder);</a:t>
            </a:r>
            <a:br>
              <a:rPr/>
            </a:br>
            <a:r>
              <a:rPr/>
              <a:t>outState.putLong("nextHideAtElapsedMs",</a:t>
            </a:r>
            <a:br>
              <a:rPr/>
            </a:br>
            <a:r>
              <a:rPr/>
              <a:t>        nextHideAtElapsedMs);</a:t>
            </a:r>
            <a:endParaRPr/>
          </a:p>
        </p:txBody>
      </p:sp>
      <p:sp>
        <p:nvSpPr>
          <p:cNvPr id="1273367998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9/10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5798024" name="Picture 1" descr="image1.jpe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79262495" name="TextBox 2"/>
          <p:cNvSpPr txBox="1"/>
          <p:nvPr/>
        </p:nvSpPr>
        <p:spPr bwMode="auto">
          <a:xfrm>
            <a:off x="640080" y="219456"/>
            <a:ext cx="7955279" cy="411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Итог проекта</a:t>
            </a:r>
            <a:endParaRPr/>
          </a:p>
        </p:txBody>
      </p:sp>
      <p:sp>
        <p:nvSpPr>
          <p:cNvPr id="247482529" name="TextBox 3"/>
          <p:cNvSpPr txBox="1"/>
          <p:nvPr/>
        </p:nvSpPr>
        <p:spPr bwMode="auto">
          <a:xfrm>
            <a:off x="658368" y="1188720"/>
            <a:ext cx="4937760" cy="34747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Создано приложение для поэтапного заучивания стихотворений.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Реализованы поиск, загрузка текста, скрытие слов, проверка и подсчёт баллов.</a:t>
            </a:r>
            <a:endParaRPr/>
          </a:p>
          <a:p>
            <a:pPr>
              <a:spcAft>
                <a:spcPts val="800"/>
              </a:spcAft>
              <a:defRPr sz="1800">
                <a:solidFill>
                  <a:srgbClr val="202020"/>
                </a:solidFill>
                <a:latin typeface="Calibri"/>
              </a:defRPr>
            </a:pPr>
            <a:r>
              <a:rPr/>
              <a:t>Проект можно развивать: история прогресса, избранные стихи, улучшенная очистка сайтов, облачное сохранение.</a:t>
            </a:r>
            <a:endParaRPr/>
          </a:p>
        </p:txBody>
      </p:sp>
      <p:sp>
        <p:nvSpPr>
          <p:cNvPr id="770011288" name="Rounded Rectangle 4"/>
          <p:cNvSpPr/>
          <p:nvPr/>
        </p:nvSpPr>
        <p:spPr bwMode="auto">
          <a:xfrm>
            <a:off x="5486400" y="1234440"/>
            <a:ext cx="3063240" cy="3154680"/>
          </a:xfrm>
          <a:prstGeom prst="roundRect">
            <a:avLst>
              <a:gd name="adj" fmla="val 16667"/>
            </a:avLst>
          </a:prstGeom>
          <a:solidFill>
            <a:srgbClr val="152437"/>
          </a:solidFill>
          <a:ln>
            <a:solidFill>
              <a:srgbClr val="5073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4646693" name="Rectangle 5"/>
          <p:cNvSpPr/>
          <p:nvPr/>
        </p:nvSpPr>
        <p:spPr bwMode="auto">
          <a:xfrm>
            <a:off x="5486400" y="1234440"/>
            <a:ext cx="3063240" cy="384048"/>
          </a:xfrm>
          <a:prstGeom prst="rect">
            <a:avLst/>
          </a:prstGeom>
          <a:solidFill>
            <a:srgbClr val="233A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20004975" name="Oval 6"/>
          <p:cNvSpPr/>
          <p:nvPr/>
        </p:nvSpPr>
        <p:spPr bwMode="auto">
          <a:xfrm>
            <a:off x="5605272" y="1380744"/>
            <a:ext cx="73152" cy="73152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11674155" name="Oval 7"/>
          <p:cNvSpPr/>
          <p:nvPr/>
        </p:nvSpPr>
        <p:spPr bwMode="auto">
          <a:xfrm>
            <a:off x="5769864" y="1380744"/>
            <a:ext cx="73152" cy="73152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6522436" name="Oval 8"/>
          <p:cNvSpPr/>
          <p:nvPr/>
        </p:nvSpPr>
        <p:spPr bwMode="auto">
          <a:xfrm>
            <a:off x="5934456" y="1380744"/>
            <a:ext cx="73152" cy="73152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53155158" name="TextBox 9"/>
          <p:cNvSpPr txBox="1"/>
          <p:nvPr/>
        </p:nvSpPr>
        <p:spPr bwMode="auto">
          <a:xfrm>
            <a:off x="6144768" y="1325880"/>
            <a:ext cx="2240280" cy="16459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DCA0"/>
                </a:solidFill>
                <a:latin typeface="Consolas"/>
              </a:defRPr>
            </a:pPr>
            <a:r>
              <a:rPr/>
              <a:t>готовый проект</a:t>
            </a:r>
            <a:endParaRPr/>
          </a:p>
        </p:txBody>
      </p:sp>
      <p:sp>
        <p:nvSpPr>
          <p:cNvPr id="1775693481" name="TextBox 10"/>
          <p:cNvSpPr txBox="1"/>
          <p:nvPr/>
        </p:nvSpPr>
        <p:spPr bwMode="auto">
          <a:xfrm>
            <a:off x="5650992" y="1737360"/>
            <a:ext cx="2770632" cy="2560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1000">
                <a:solidFill>
                  <a:srgbClr val="E0ECFF"/>
                </a:solidFill>
                <a:latin typeface="Consolas"/>
              </a:defRPr>
            </a:pPr>
            <a:r>
              <a:rPr/>
              <a:t>Результат:</a:t>
            </a:r>
            <a:br>
              <a:rPr/>
            </a:br>
            <a:r>
              <a:rPr/>
              <a:t>✓ Android-приложение</a:t>
            </a:r>
            <a:br>
              <a:rPr/>
            </a:br>
            <a:r>
              <a:rPr/>
              <a:t>✓ Java + XML</a:t>
            </a:r>
            <a:br>
              <a:rPr/>
            </a:br>
            <a:r>
              <a:rPr/>
              <a:t>✓ WebView-поиск</a:t>
            </a:r>
            <a:br>
              <a:rPr/>
            </a:br>
            <a:r>
              <a:rPr/>
              <a:t>✓ Таймер и проверка</a:t>
            </a:r>
            <a:br>
              <a:rPr/>
            </a:br>
            <a:r>
              <a:rPr/>
              <a:t>✓ Работа с длинными стихами</a:t>
            </a:r>
            <a:endParaRPr/>
          </a:p>
        </p:txBody>
      </p:sp>
      <p:sp>
        <p:nvSpPr>
          <p:cNvPr id="108729493" name="TextBox 11"/>
          <p:cNvSpPr txBox="1"/>
          <p:nvPr/>
        </p:nvSpPr>
        <p:spPr bwMode="auto">
          <a:xfrm>
            <a:off x="8119872" y="4764024"/>
            <a:ext cx="64008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6E8296"/>
                </a:solidFill>
                <a:latin typeface="Calibri"/>
              </a:defRPr>
            </a:pPr>
            <a:r>
              <a:rPr/>
              <a:t>10/10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ONLYOFFICE/9.2.1.43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2026-05-26T09:02:06Z</dcterms:modified>
  <cp:category/>
</cp:coreProperties>
</file>