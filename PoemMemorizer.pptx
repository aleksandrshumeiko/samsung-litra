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508760"/>
            <a:ext cx="73152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400">
                <a:solidFill>
                  <a:srgbClr val="FFFFFF"/>
                </a:solidFill>
                <a:latin typeface="Calibri"/>
              </a:defRPr>
            </a:pPr>
            <a:r>
              <a:t>Индивидуальный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084831"/>
            <a:ext cx="7589520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600">
                <a:solidFill>
                  <a:srgbClr val="FFFF00"/>
                </a:solidFill>
                <a:latin typeface="Calibri"/>
              </a:defRPr>
            </a:pPr>
            <a:r>
              <a:t>Poem Memorizer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2788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Android-приложение для заучивания стихотворений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73552"/>
            <a:ext cx="1097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Город:</a:t>
            </a:r>
          </a:p>
          <a:p>
            <a:pPr algn="r">
              <a:defRPr sz="1300">
                <a:solidFill>
                  <a:srgbClr val="FFFFFF"/>
                </a:solidFill>
              </a:defRPr>
            </a:pPr>
            <a:r>
              <a:t>Площадка:</a:t>
            </a:r>
          </a:p>
          <a:p>
            <a:pPr algn="r">
              <a:defRPr sz="1300">
                <a:solidFill>
                  <a:srgbClr val="FFFFFF"/>
                </a:solidFill>
              </a:defRPr>
            </a:pPr>
            <a:r>
              <a:t>Учащийся:</a:t>
            </a:r>
          </a:p>
          <a:p>
            <a:pPr algn="r">
              <a:defRPr sz="1300">
                <a:solidFill>
                  <a:srgbClr val="FFFFFF"/>
                </a:solidFill>
              </a:defRPr>
            </a:pPr>
            <a:r>
              <a:t>Преподаватель:</a:t>
            </a:r>
          </a:p>
          <a:p>
            <a:pPr algn="r">
              <a:defRPr sz="1300">
                <a:solidFill>
                  <a:srgbClr val="FFFFFF"/>
                </a:solidFill>
              </a:defRPr>
            </a:pPr>
            <a:r>
              <a:t>Дата: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3273552"/>
            <a:ext cx="3474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________________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________________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________________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________________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2026 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9872" y="4764024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6E8296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9456"/>
            <a:ext cx="7955279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Актуальность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466344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  <a:latin typeface="Calibri"/>
              </a:defRPr>
            </a:pPr>
            <a:r>
              <a:t>Многим школьникам сложно запоминать длинные стихотворения.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  <a:latin typeface="Calibri"/>
              </a:defRPr>
            </a:pPr>
            <a:r>
              <a:t>Обычное перечитывание не показывает, какие слова уже выучены.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  <a:latin typeface="Calibri"/>
              </a:defRPr>
            </a:pPr>
            <a:r>
              <a:t>Приложение превращает заучивание в поэтапную тренировку с проверкой.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234440"/>
            <a:ext cx="2971800" cy="3246120"/>
          </a:xfrm>
          <a:prstGeom prst="roundRect">
            <a:avLst/>
          </a:prstGeom>
          <a:solidFill>
            <a:srgbClr val="152437"/>
          </a:solidFill>
          <a:ln>
            <a:solidFill>
              <a:srgbClr val="50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1234440"/>
            <a:ext cx="2971800" cy="384048"/>
          </a:xfrm>
          <a:prstGeom prst="rect">
            <a:avLst/>
          </a:prstGeom>
          <a:solidFill>
            <a:srgbClr val="23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05272" y="1380744"/>
            <a:ext cx="73152" cy="7315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9864" y="1380744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1380744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325880"/>
            <a:ext cx="2148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DCA0"/>
                </a:solidFill>
                <a:latin typeface="Consolas"/>
              </a:defRPr>
            </a:pPr>
            <a:r>
              <a:t>идея алгоритма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737360"/>
            <a:ext cx="2679192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E0ECFF"/>
                </a:solidFill>
                <a:latin typeface="Consolas"/>
              </a:defRPr>
            </a:pPr>
            <a:r>
              <a:t>Проблема → нет контроля памяти</a:t>
            </a:r>
            <a:br/>
            <a:r>
              <a:t>Решение → скрывать слова</a:t>
            </a:r>
            <a:br/>
            <a:r>
              <a:t>Проверка → сравнить ответ</a:t>
            </a:r>
            <a:br/>
            <a:r>
              <a:t>Итог → балл и прогресс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4764024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6E8296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9456"/>
            <a:ext cx="7955279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Цель и задачи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33856"/>
            <a:ext cx="502920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Цель: создать Android-приложение, которое помогает учить стихи по памяти.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Задачи: загрузка текста, скрытие слов, проверка ошибок, подсчёт баллов.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Дополнительно: встроенный поиск, сохранение прогресса и работа с длинным текстом.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325880"/>
            <a:ext cx="1097280" cy="310896"/>
          </a:xfrm>
          <a:prstGeom prst="roundRect">
            <a:avLst/>
          </a:prstGeom>
          <a:solidFill>
            <a:srgbClr val="EBF4FC"/>
          </a:solidFill>
          <a:ln>
            <a:solidFill>
              <a:srgbClr val="96B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61888" y="1380744"/>
            <a:ext cx="87782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Java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325880"/>
            <a:ext cx="1325880" cy="310896"/>
          </a:xfrm>
          <a:prstGeom prst="roundRect">
            <a:avLst/>
          </a:prstGeom>
          <a:solidFill>
            <a:srgbClr val="EBF4FC"/>
          </a:solidFill>
          <a:ln>
            <a:solidFill>
              <a:srgbClr val="96B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96328" y="1380744"/>
            <a:ext cx="110642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Android SDK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828800"/>
            <a:ext cx="1234440" cy="310896"/>
          </a:xfrm>
          <a:prstGeom prst="roundRect">
            <a:avLst/>
          </a:prstGeom>
          <a:solidFill>
            <a:srgbClr val="EBF4FC"/>
          </a:solidFill>
          <a:ln>
            <a:solidFill>
              <a:srgbClr val="96B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888" y="1883664"/>
            <a:ext cx="101498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WebView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828800"/>
            <a:ext cx="1188720" cy="310896"/>
          </a:xfrm>
          <a:prstGeom prst="roundRect">
            <a:avLst/>
          </a:prstGeom>
          <a:solidFill>
            <a:srgbClr val="EBF4FC"/>
          </a:solidFill>
          <a:ln>
            <a:solidFill>
              <a:srgbClr val="96B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883664"/>
            <a:ext cx="96926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XML layout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2331720"/>
            <a:ext cx="1143000" cy="310896"/>
          </a:xfrm>
          <a:prstGeom prst="roundRect">
            <a:avLst/>
          </a:prstGeom>
          <a:solidFill>
            <a:srgbClr val="EBF4FC"/>
          </a:solidFill>
          <a:ln>
            <a:solidFill>
              <a:srgbClr val="96B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1888" y="2386584"/>
            <a:ext cx="92354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Handler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331720"/>
            <a:ext cx="914400" cy="310896"/>
          </a:xfrm>
          <a:prstGeom prst="roundRect">
            <a:avLst/>
          </a:prstGeom>
          <a:solidFill>
            <a:srgbClr val="EBF4FC"/>
          </a:solidFill>
          <a:ln>
            <a:solidFill>
              <a:srgbClr val="96B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2386584"/>
            <a:ext cx="69494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00" b="1">
                <a:solidFill>
                  <a:srgbClr val="0070C0"/>
                </a:solidFill>
                <a:latin typeface="Calibri"/>
              </a:defRPr>
            </a:pPr>
            <a:r>
              <a:t>Regex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971800"/>
            <a:ext cx="2880360" cy="1188720"/>
          </a:xfrm>
          <a:prstGeom prst="roundRect">
            <a:avLst/>
          </a:prstGeom>
          <a:solidFill>
            <a:srgbClr val="152437"/>
          </a:solidFill>
          <a:ln>
            <a:solidFill>
              <a:srgbClr val="50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2971800"/>
            <a:ext cx="2880360" cy="384048"/>
          </a:xfrm>
          <a:prstGeom prst="rect">
            <a:avLst/>
          </a:prstGeom>
          <a:solidFill>
            <a:srgbClr val="23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33872" y="3118104"/>
            <a:ext cx="73152" cy="7315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98464" y="3118104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63056" y="3118104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063240"/>
            <a:ext cx="2057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DCA0"/>
                </a:solidFill>
                <a:latin typeface="Consolas"/>
              </a:defRPr>
            </a:pPr>
            <a:r>
              <a:t>файлы проекта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9592" y="3474720"/>
            <a:ext cx="2587752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E0ECFF"/>
                </a:solidFill>
                <a:latin typeface="Consolas"/>
              </a:defRPr>
            </a:pPr>
            <a:r>
              <a:t>MainActivity.java</a:t>
            </a:r>
            <a:br/>
            <a:r>
              <a:t>SearchWebActivity.java</a:t>
            </a:r>
            <a:br/>
            <a:r>
              <a:t>activity_main.xml</a:t>
            </a:r>
            <a:br/>
            <a:r>
              <a:t>AndroidManifest.xml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4764024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6E8296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9456"/>
            <a:ext cx="7955279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Интерфейс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489204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Верхняя часть: поле для ссылки или названия стихотворения.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Кнопка «Поиск» открывает два варианта: по ссылке и в интернете.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Основная область показывает правила, а затем текст стихотворения.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Кнопка «Действия» открывает проверку, следующий этап, сохранение и главный экран.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170432"/>
            <a:ext cx="3063240" cy="2788920"/>
          </a:xfrm>
          <a:prstGeom prst="roundRect">
            <a:avLst/>
          </a:prstGeom>
          <a:solidFill>
            <a:srgbClr val="152437"/>
          </a:solidFill>
          <a:ln>
            <a:solidFill>
              <a:srgbClr val="50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77840" y="1170432"/>
            <a:ext cx="3063240" cy="384048"/>
          </a:xfrm>
          <a:prstGeom prst="rect">
            <a:avLst/>
          </a:prstGeom>
          <a:solidFill>
            <a:srgbClr val="23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96712" y="1316736"/>
            <a:ext cx="73152" cy="7315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61303" y="1316736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25896" y="1316736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7" y="1261872"/>
            <a:ext cx="2240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DCA0"/>
                </a:solidFill>
                <a:latin typeface="Consolas"/>
              </a:defRPr>
            </a:pPr>
            <a:r>
              <a:t>activity_main.xml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1" y="1673352"/>
            <a:ext cx="2770632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E0ECFF"/>
                </a:solidFill>
                <a:latin typeface="Consolas"/>
              </a:defRPr>
            </a:pPr>
            <a:r>
              <a:t>&lt;EditText</a:t>
            </a:r>
            <a:br/>
            <a:r>
              <a:t>    android:id="@+id/poemEditText"</a:t>
            </a:r>
            <a:br/>
            <a:r>
              <a:t>    android:inputType="textMultiLine"</a:t>
            </a:r>
            <a:br/>
            <a:r>
              <a:t>    android:imeOptions="flagNoExtractUi" /&gt;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4764024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6E8296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9456"/>
            <a:ext cx="7955279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Поиск и загрузка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48463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Если пользователь вставляет ссылку ilibrary.ru или culture.ru, приложение грузит её напрямую.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Для других сайтов открывается встроенный WebView.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Внутри WebView можно выделить чистый текст стихотворения и вставить его обратно.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078992"/>
            <a:ext cx="3108960" cy="3474720"/>
          </a:xfrm>
          <a:prstGeom prst="roundRect">
            <a:avLst/>
          </a:prstGeom>
          <a:solidFill>
            <a:srgbClr val="152437"/>
          </a:solidFill>
          <a:ln>
            <a:solidFill>
              <a:srgbClr val="50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1078992"/>
            <a:ext cx="3108960" cy="384048"/>
          </a:xfrm>
          <a:prstGeom prst="rect">
            <a:avLst/>
          </a:prstGeom>
          <a:solidFill>
            <a:srgbClr val="23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05272" y="1225295"/>
            <a:ext cx="73152" cy="7315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9864" y="1225295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1225295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170432"/>
            <a:ext cx="2286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DCA0"/>
                </a:solidFill>
                <a:latin typeface="Consolas"/>
              </a:defRPr>
            </a:pPr>
            <a:r>
              <a:t>обработка ссылки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581912"/>
            <a:ext cx="2816352" cy="2880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E0ECFF"/>
                </a:solidFill>
                <a:latin typeface="Consolas"/>
              </a:defRPr>
            </a:pPr>
            <a:r>
              <a:t>if (isSupportedPoemUrl(url)) {</a:t>
            </a:r>
            <a:br/>
            <a:r>
              <a:t>    downloadPoemFromInternet(url);</a:t>
            </a:r>
            <a:br/>
            <a:r>
              <a:t>} else {</a:t>
            </a:r>
            <a:br/>
            <a:r>
              <a:t>    openWebSearchWithQuery(url);</a:t>
            </a:r>
            <a:br/>
            <a:r>
              <a:t>}</a:t>
            </a:r>
            <a:br/>
            <a:br/>
            <a:r>
              <a:t>startActivityForResult(intent,</a:t>
            </a:r>
            <a:br/>
            <a:r>
              <a:t>        REQUEST_WEB_SEARCH);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4764024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6E8296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9456"/>
            <a:ext cx="7955279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Встроенный WebView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48463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SearchWebActivity работает как мини-браузер внутри приложения.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После открытия сайта пользователь нажимает «Вставить текст страницы».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Для точности лучше выделить только текст стихотворения на сайте.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078992"/>
            <a:ext cx="3108960" cy="3474720"/>
          </a:xfrm>
          <a:prstGeom prst="roundRect">
            <a:avLst/>
          </a:prstGeom>
          <a:solidFill>
            <a:srgbClr val="152437"/>
          </a:solidFill>
          <a:ln>
            <a:solidFill>
              <a:srgbClr val="50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1078992"/>
            <a:ext cx="3108960" cy="384048"/>
          </a:xfrm>
          <a:prstGeom prst="rect">
            <a:avLst/>
          </a:prstGeom>
          <a:solidFill>
            <a:srgbClr val="23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05272" y="1225295"/>
            <a:ext cx="73152" cy="7315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9864" y="1225295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1225295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170432"/>
            <a:ext cx="2286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DCA0"/>
                </a:solidFill>
                <a:latin typeface="Consolas"/>
              </a:defRPr>
            </a:pPr>
            <a:r>
              <a:t>SearchWebActivity.java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581912"/>
            <a:ext cx="2816352" cy="2880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E0ECFF"/>
                </a:solidFill>
                <a:latin typeface="Consolas"/>
              </a:defRPr>
            </a:pPr>
            <a:r>
              <a:t>var selected = window.getSelection().toString();</a:t>
            </a:r>
            <a:br/>
            <a:br/>
            <a:r>
              <a:t>if (selected.trim().length &gt; 20) {</a:t>
            </a:r>
            <a:br/>
            <a:r>
              <a:t>    PageTextBridge.setText(selected);</a:t>
            </a:r>
            <a:br/>
            <a:r>
              <a:t>}</a:t>
            </a:r>
            <a:br/>
            <a:br/>
            <a:r>
              <a:t>webView.loadUrl(searchUrl);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4764024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6E8296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9456"/>
            <a:ext cx="7955279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Алгоритм скрытия слов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48463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Текст разбивается на слова и разделители.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Порядок скрытия перемешивается случайно.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На каждом этапе скрывается всё больше слов: сначала около 10%, затем больше.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Ответы пользователя сохраняются, чтобы не терялись при повторной проверке.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042415"/>
            <a:ext cx="3154680" cy="3611880"/>
          </a:xfrm>
          <a:prstGeom prst="roundRect">
            <a:avLst/>
          </a:prstGeom>
          <a:solidFill>
            <a:srgbClr val="152437"/>
          </a:solidFill>
          <a:ln>
            <a:solidFill>
              <a:srgbClr val="50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1042415"/>
            <a:ext cx="3154680" cy="384048"/>
          </a:xfrm>
          <a:prstGeom prst="rect">
            <a:avLst/>
          </a:prstGeom>
          <a:solidFill>
            <a:srgbClr val="23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05272" y="1188719"/>
            <a:ext cx="73152" cy="7315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9864" y="1188719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1188719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133856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DCA0"/>
                </a:solidFill>
                <a:latin typeface="Consolas"/>
              </a:defRPr>
            </a:pPr>
            <a:r>
              <a:t>advanceHidingStage()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545336"/>
            <a:ext cx="2862072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E0ECFF"/>
                </a:solidFill>
                <a:latin typeface="Consolas"/>
              </a:defRPr>
            </a:pPr>
            <a:r>
              <a:t>double targetPercent = Math.min(1.0,</a:t>
            </a:r>
            <a:br/>
            <a:r>
              <a:t>        0.10 + hideStep * 0.15);</a:t>
            </a:r>
            <a:br/>
            <a:br/>
            <a:r>
              <a:t>int targetHiddenCount = (int) Math.ceil(</a:t>
            </a:r>
            <a:br/>
            <a:r>
              <a:t>        originalWords.size() * targetPercent);</a:t>
            </a:r>
            <a:br/>
            <a:br/>
            <a:r>
              <a:t>hiddenWordIndexes.add(hideOrder.get(i));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4764024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6E8296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9456"/>
            <a:ext cx="7955279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Проверка и баллы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48463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Проверяются только скрытые слова — видимый текст остаётся подсказкой.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Ответ нормализуется: регистр не важен, «ё» и «е» считаются одинаковыми.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Итоговый балл считается как процент правильных ответов.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987552"/>
            <a:ext cx="3154680" cy="3703320"/>
          </a:xfrm>
          <a:prstGeom prst="roundRect">
            <a:avLst/>
          </a:prstGeom>
          <a:solidFill>
            <a:srgbClr val="152437"/>
          </a:solidFill>
          <a:ln>
            <a:solidFill>
              <a:srgbClr val="50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987552"/>
            <a:ext cx="3154680" cy="384048"/>
          </a:xfrm>
          <a:prstGeom prst="rect">
            <a:avLst/>
          </a:prstGeom>
          <a:solidFill>
            <a:srgbClr val="23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05272" y="1133856"/>
            <a:ext cx="73152" cy="7315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9864" y="1133856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1133856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078992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DCA0"/>
                </a:solidFill>
                <a:latin typeface="Consolas"/>
              </a:defRPr>
            </a:pPr>
            <a:r>
              <a:t>checkCurrentStage()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490472"/>
            <a:ext cx="2862072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E0ECFF"/>
                </a:solidFill>
                <a:latin typeface="Consolas"/>
              </a:defRPr>
            </a:pPr>
            <a:r>
              <a:t>String actual = normalizeAnswerWord(actualRaw);</a:t>
            </a:r>
            <a:br/>
            <a:r>
              <a:t>String expected = normalizeAnswerWord(expectedRaw);</a:t>
            </a:r>
            <a:br/>
            <a:br/>
            <a:r>
              <a:t>if (actual.equals(expected)) {</a:t>
            </a:r>
            <a:br/>
            <a:r>
              <a:t>    correct++;</a:t>
            </a:r>
            <a:br/>
            <a:r>
              <a:t>} else {</a:t>
            </a:r>
            <a:br/>
            <a:r>
              <a:t>    errors++;</a:t>
            </a:r>
            <a:br/>
            <a:r>
              <a:t>}</a:t>
            </a:r>
            <a:br/>
            <a:br/>
            <a:r>
              <a:t>percent = Math.round(correct * 100f / total);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4764024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6E8296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9456"/>
            <a:ext cx="7955279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Таймер и сохранение состояния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480060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Handler обновляет время каждую секунду.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Автоматический переход этапа происходит через заданный интервал.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При повороте экрана сохраняются исходный текст, скрытые слова и ответы.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Для клавиатуры используется adjustResize и flagNoExtractUi.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078992"/>
            <a:ext cx="3154680" cy="3566160"/>
          </a:xfrm>
          <a:prstGeom prst="roundRect">
            <a:avLst/>
          </a:prstGeom>
          <a:solidFill>
            <a:srgbClr val="152437"/>
          </a:solidFill>
          <a:ln>
            <a:solidFill>
              <a:srgbClr val="50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1078992"/>
            <a:ext cx="3154680" cy="384048"/>
          </a:xfrm>
          <a:prstGeom prst="rect">
            <a:avLst/>
          </a:prstGeom>
          <a:solidFill>
            <a:srgbClr val="23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05272" y="1225295"/>
            <a:ext cx="73152" cy="7315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9864" y="1225295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1225295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170432"/>
            <a:ext cx="23317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DCA0"/>
                </a:solidFill>
                <a:latin typeface="Consolas"/>
              </a:defRPr>
            </a:pPr>
            <a:r>
              <a:t>таймер и Bundle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581912"/>
            <a:ext cx="2862072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E0ECFF"/>
                </a:solidFill>
                <a:latin typeface="Consolas"/>
              </a:defRPr>
            </a:pPr>
            <a:r>
              <a:t>handler.postDelayed(timerRunnable, 1000L);</a:t>
            </a:r>
            <a:br/>
            <a:br/>
            <a:r>
              <a:t>outState.putString("originalText", originalText);</a:t>
            </a:r>
            <a:br/>
            <a:r>
              <a:t>outState.putIntegerArrayList("hideOrder", hideOrder);</a:t>
            </a:r>
            <a:br/>
            <a:r>
              <a:t>outState.putLong("nextHideAtElapsedMs",</a:t>
            </a:r>
            <a:br/>
            <a:r>
              <a:t>        nextHideAtElapsedMs);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4764024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6E8296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9456"/>
            <a:ext cx="7955279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Итог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493776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Создано приложение для поэтапного заучивания стихотворений.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Реализованы поиск, загрузка текста, скрытие слов, проверка и подсчёт баллов.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  <a:latin typeface="Calibri"/>
              </a:defRPr>
            </a:pPr>
            <a:r>
              <a:t>Проект можно развивать: история прогресса, избранные стихи, улучшенная очистка сайтов, облачное сохранение.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234440"/>
            <a:ext cx="3063240" cy="3154680"/>
          </a:xfrm>
          <a:prstGeom prst="roundRect">
            <a:avLst/>
          </a:prstGeom>
          <a:solidFill>
            <a:srgbClr val="152437"/>
          </a:solidFill>
          <a:ln>
            <a:solidFill>
              <a:srgbClr val="507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1234440"/>
            <a:ext cx="3063240" cy="384048"/>
          </a:xfrm>
          <a:prstGeom prst="rect">
            <a:avLst/>
          </a:prstGeom>
          <a:solidFill>
            <a:srgbClr val="233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05272" y="1380744"/>
            <a:ext cx="73152" cy="7315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9864" y="1380744"/>
            <a:ext cx="73152" cy="7315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34456" y="1380744"/>
            <a:ext cx="73152" cy="7315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325880"/>
            <a:ext cx="2240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DCA0"/>
                </a:solidFill>
                <a:latin typeface="Consolas"/>
              </a:defRPr>
            </a:pPr>
            <a:r>
              <a:t>готовый проект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737360"/>
            <a:ext cx="2770632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>
                <a:solidFill>
                  <a:srgbClr val="E0ECFF"/>
                </a:solidFill>
                <a:latin typeface="Consolas"/>
              </a:defRPr>
            </a:pPr>
            <a:r>
              <a:t>Результат:</a:t>
            </a:r>
            <a:br/>
            <a:r>
              <a:t>✓ Android-приложение</a:t>
            </a:r>
            <a:br/>
            <a:r>
              <a:t>✓ Java + XML</a:t>
            </a:r>
            <a:br/>
            <a:r>
              <a:t>✓ WebView-поиск</a:t>
            </a:r>
            <a:br/>
            <a:r>
              <a:t>✓ Таймер и проверка</a:t>
            </a:r>
            <a:br/>
            <a:r>
              <a:t>✓ Работа с длинными стихами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4764024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6E8296"/>
                </a:solidFill>
                <a:latin typeface="Calibr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